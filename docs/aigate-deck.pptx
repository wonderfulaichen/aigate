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开场一句话定位：AIGate 是一个本地运行的 OpenAI 兼容反向代理，一个 exe 就能起。
四个数字都是实测值：380:1 来自 5000 次真实请求的输入/输出比；24.0% 是剥离省下的输入占比。
三协议 = OpenAI / Anthropic / Responses 三个入口同时对外；单文件 = 前端在编译期拼进 exe，不依赖 Node。
这页只讲"是什么"，机制从第 7 页开始展开。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这一页的用意：先把"问题有多大"用数据钉死，再谈方案。
第 1 点最反直觉：大家以为成本在输出（模型思考），其实输入是输出的 380 倍。
第 2 点指出重复性：98.8% 命中 KV 缓存，说明内容高度重复 —— 所以方向是"别重复传"，不是"少发请求"。
第 3、4 点是工具层面的缺失：看不见请求体结构，且每换客户端/供应商都要重配。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这一页是"主张"：省下来的不是模型能力，是重复搬运的上下文。
380 倍 / 98.8% 承接上一页的问题；4.04 亿 / 24.0% / 65.4% 是本产品的实测产出。
强调"实在"：省的是 token 本身，换任何上游都成立 —— 这也是后面"逐项记账"的动机。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一句话：客户端只认一个地址，复杂性全收进本地网关。
左侧是编程工具，右侧是任意供应商，中间 AIGate 负责协议匹配、路由、省量、韧性。
关键收益："任意客户端 × 任意供应商，只配一次" —— 这是配置成本的量级变化，不是省一点。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核心规则：协议由客户端的入口决定，不由网关代为选择。
三个入口命中就直接透传，不做翻译 —— 这也是 responses 直通路径省量恒为 0 的原因（它根本不过剥离）。
"652 个模型无一勾选"是实测配置数据，用来说明"让用户手动勾"为什么行不通。
强调最后一条：转换必有代价，直传才保真。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能力结构：中间是主线（省量），下面三项都是为它服务或为它兜底。
"不破坏上游 KV 缓存"是关键约束 —— 省钱不能以打掉缓存为代价，否则得不偿失。
三项配套：协议匹配（让省量在三种协议下都能工作）、别名共存（让路由可管）、可观测与韧性（让省量看得见、失败可恢复）。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这一页是整个产品的立论基础：把"过程"和"结果"分开。
左边是模型真正需要的（提问、回答、工具调用、system），右边是"上次怎么想的"—— 后者对下一轮毫无价值。
结论那句要讲慢：不改善质量 + 随轮次线性增长 = 纯粹的浪费。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实测数据，10 轮会话：不剥离一路涨到 11,510 B，剥离后压在 3,210 B。
关键不是"省了 72%"，而是"差值逐轮扩大"—— 会话越长，省得越多。
所以这个优化对长会话（真实编程场景）价值最大。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这一页回答"到底省多少、省在哪"。
中位数 120,505 tokens、p90 到 357,390 —— 不是省零头。
97.7% 的省量集中在带 tool_calls 的轮次，这解释了为什么默认开关要按协议+层来划（下一页会讲判定）。
模型排行用来说明受益集中在哪些高频模型。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这是最有说服力的一页：真实抓包对照，不是示意。
重点看"消息条数 8 → 8、顺序不变"—— 剥离只动推理链字段，不动对话结构，所以不会破坏语义。
省 4,790 字节 ≈ 1,197 tokens，这是单次请求的量级。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这一页是"省量"的安全边界：不是能剥就剥。
顺序很关键：先看协议（Anthropic 绝不剥），再看层（普通 vs 带 tool_calls）。
Responses 那条诚实标注为"可选"，原因是配对关系没有实测过 —— 不拿用户的请求去赌。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三种手段并列，但权重完全不同：剥离是主力（97.7%），另两项按需。
每张卡片右上角的标签就是出厂默认值：剥离默认开、裁剪默认关、缓存可选。
最后一句是关键态度：不追求"省得最多"，只开代价最可控的。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这一页回应一个必然的质疑：剥得越狠不是越好吗？不是。
左边两列是两种极端（都错），右边是我们的做法：分两层 + 按协议判定。
底部的实测反例（同一模型在官方与转售商走不同协议）很有说服力，建议讲。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界面这一页展示的是真实运行实例的截图，不是稿子。
主题切换的机制值得提一句：只切一个类名，视觉全由 token 响应，所以亮色不是"再写一套样式"。
首帧不闪暗色是个细节但用户能感知，可以顺带说。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这一页说明"省量可见"落到哪些具体位置。
左边记录页是逐条明细，右边分析页是聚合视图 —— 一个可查证据，一个看趋势。
强调口径一致：单条命中率与聚合命中率算法相同，避免出现两个数打架。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这一页讲"可管理性"：供应商与模型都在一个面板里。
关键词是"解耦"：中转 ID 与上游真名分开，同一模型跨供应商各自成路由。
最后一句把前面 P5 的"652 个模型无一勾选"收口：所以不能靠手工维护，只能靠探测 + 三层回落。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部署这一页的卖点是"简单"：一个 exe，零外部依赖。
技术上刻意做窄：前端编译期拼进二进制，所以不需要 Node 和静态目录。
密钥不落明文、可跑多实例 —— 这两条是企业/多环境场景会立刻问到的。
异步非阻塞保留一句：单个慢上游不会拖住别人。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收尾：三步。下载 exe、运行、把客户端的 base_url 指过来。
第二步强调"面板完成初始化"—— 供应商与密钥都在面板里配，不用手写配置文件。
最后给出仓库地址，方便现场演示时打开。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680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7C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LLM GATEWAY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7C86FF"/>
          </a:solidFill>
          <a:ln w="12700">
            <a:solidFill>
              <a:srgbClr val="7C86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887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" y="2029968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3054096"/>
            <a:ext cx="7863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5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把重复的上下文，</a:t>
            </a:r>
            <a:endParaRPr lang="en-US" sz="2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5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不再重复传一遍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407822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一个地址接入所有编程工具，一个面板管住所有模型供应商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4937760"/>
            <a:ext cx="244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 :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5413248"/>
            <a:ext cx="2444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: 输出（实测）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77108" y="4937760"/>
            <a:ext cx="244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77108" y="5413248"/>
            <a:ext cx="2444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省下输入总量的比例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95848" y="4937760"/>
            <a:ext cx="244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协议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5848" y="5413248"/>
            <a:ext cx="2444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/ Anthropic / Responses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14587" y="4937760"/>
            <a:ext cx="244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单文件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14587" y="5413248"/>
            <a:ext cx="2444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exe，零外部依赖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上下文在重复搬运，却看不出重复在哪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先用数据看清请求体的结构 —— 这决定了该优化什么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45456" cy="1810512"/>
          </a:xfrm>
          <a:prstGeom prst="roundRect">
            <a:avLst>
              <a:gd name="adj" fmla="val 303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35024" y="1773936"/>
            <a:ext cx="431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输入是输出的 380 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473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5000 次请求：输入 16.84 亿 tokens，输出仅 444 万。大头从来不是「模型想了多久」，而是「每次重发了多少历史」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7872" y="1572768"/>
            <a:ext cx="5245456" cy="1810512"/>
          </a:xfrm>
          <a:prstGeom prst="roundRect">
            <a:avLst>
              <a:gd name="adj" fmla="val 303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773936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64528" y="1773936"/>
            <a:ext cx="431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98.8% 的输入命中缓存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43904" y="2267712"/>
            <a:ext cx="473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也就是说：这些内容本来就在被反复重发。优化方向不是少发请求，而是别把重复内容再传一遍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694176"/>
            <a:ext cx="5245456" cy="1810512"/>
          </a:xfrm>
          <a:prstGeom prst="roundRect">
            <a:avLst>
              <a:gd name="adj" fmla="val 303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95344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5024" y="3895344"/>
            <a:ext cx="431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却看不见重复在哪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473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客户端只告诉你发了多少，不告诉你请求体里什么在重复；换一个供应商，一切又从零开始猜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7872" y="3694176"/>
            <a:ext cx="5245456" cy="1810512"/>
          </a:xfrm>
          <a:prstGeom prst="roundRect">
            <a:avLst>
              <a:gd name="adj" fmla="val 303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3904" y="3895344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4528" y="3895344"/>
            <a:ext cx="431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协议与配置还得各配一遍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43904" y="4389120"/>
            <a:ext cx="4733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/ Anthropic / Responses 三种协议并存，每个客户端单独配 base_url 与密钥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省下来的，是重复的上下文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本产品的第一目标：不破坏上游缓存，同时剥掉真正冗余的部分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719072"/>
            <a:ext cx="195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 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2249424"/>
            <a:ext cx="1955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÷ 输出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33360" y="1719072"/>
            <a:ext cx="195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0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98.8%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833360" y="2249424"/>
            <a:ext cx="1955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输入命中 KV 缓存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08352" y="1719072"/>
            <a:ext cx="195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8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4.04 亿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008352" y="2249424"/>
            <a:ext cx="1955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剥离省下的 tokens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83344" y="1719072"/>
            <a:ext cx="195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24.0%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183344" y="2249424"/>
            <a:ext cx="1955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占输入总量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58335" y="1719072"/>
            <a:ext cx="195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B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65.4%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358335" y="2249424"/>
            <a:ext cx="1955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受益请求占比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962656"/>
            <a:ext cx="10874959" cy="10973"/>
          </a:xfrm>
          <a:prstGeom prst="rect">
            <a:avLst/>
          </a:prstGeom>
          <a:solidFill>
            <a:srgbClr val="24243A"/>
          </a:solidFill>
          <a:ln w="12700">
            <a:solidFill>
              <a:srgbClr val="24243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273552"/>
            <a:ext cx="10874959" cy="1920240"/>
          </a:xfrm>
          <a:prstGeom prst="roundRect">
            <a:avLst>
              <a:gd name="adj" fmla="val 2857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747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省下的 token 是实在的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不论上游怎么变，少发的 tokens 就不必再传输一遍。这也是为什么面板把省量按 token 逐项记账 —— 剥离 / 裁剪 / 缓存三类分开，看得见每一项省了多少。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把复杂性收进一个本地网关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客户端只认一个地址；协议、路由、计量、韧性，全在网关里解决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78408" y="1627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你的编程工具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" y="2029968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2996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78408" y="2907792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90779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78408" y="3785616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78561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/ 其他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50808" y="1627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模型供应商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50808" y="2029968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33688" y="202996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50808" y="2907792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290779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50808" y="3785616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378561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/ 中转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90288" y="2029968"/>
            <a:ext cx="3200400" cy="2359152"/>
          </a:xfrm>
          <a:prstGeom prst="roundRect">
            <a:avLst>
              <a:gd name="adj" fmla="val 3101"/>
            </a:avLst>
          </a:prstGeom>
          <a:solidFill>
            <a:srgbClr val="141428"/>
          </a:solidFill>
          <a:ln w="15875">
            <a:solidFill>
              <a:srgbClr val="7C8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3225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90288" y="281635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· 单文件 · 零外部依赖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3236976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协议自动匹配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模型路由与别名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省量与计量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 / 退避 / 超时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76472" y="3200400"/>
            <a:ext cx="667512" cy="18288"/>
          </a:xfrm>
          <a:prstGeom prst="rect">
            <a:avLst/>
          </a:prstGeom>
          <a:solidFill>
            <a:srgbClr val="7C86FF"/>
          </a:solidFill>
          <a:ln w="12700">
            <a:solidFill>
              <a:srgbClr val="7C86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3200400"/>
            <a:ext cx="667512" cy="18288"/>
          </a:xfrm>
          <a:prstGeom prst="rect">
            <a:avLst/>
          </a:prstGeom>
          <a:solidFill>
            <a:srgbClr val="B06BFF"/>
          </a:solidFill>
          <a:ln w="12700">
            <a:solidFill>
              <a:srgbClr val="B06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882896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任意客户端 × 任意供应商，只配一次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协议由客户端决定，不由网关替你选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客户端打哪个入口，就用哪个协议转发 —— 上游本来就支持就直传，不支持才转换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6766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客户端入口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网关行为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发往上游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/v1/chat/completions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命中即直传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/chat/completions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/v1/messages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命中即直传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/messages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/v1/responses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命中即直传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/responses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3675888"/>
            <a:ext cx="6766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为什么不让手动勾：让配置者逐个模型勾选支持什么协议 —— 真实配置里 652 个模型无一勾选，功能等于不存在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45552" y="1572768"/>
            <a:ext cx="3687775" cy="3401568"/>
          </a:xfrm>
          <a:prstGeom prst="roundRect">
            <a:avLst>
              <a:gd name="adj" fmla="val 1613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1584" y="1773936"/>
            <a:ext cx="317571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三个"不"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01584" y="2194560"/>
            <a:ext cx="3175711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不靠猜：按模型名推断（claude-* → anthropic）会踩坑 —— 同名模型跨服务方协议不同，claude-opus-4-8 在官方走 anthropic、在转售商走 openai</a:t>
            </a:r>
            <a:endParaRPr lang="en-US" sz="1050" dirty="0"/>
          </a:p>
          <a:p>
            <a:pPr marL="342900" indent="-342900">
              <a:lnSpc>
                <a:spcPct val="14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不静默换：没证据说上游不支持，就尊重客户端的选择；宁可让上游回一个诚实的错误</a:t>
            </a:r>
            <a:endParaRPr lang="en-US" sz="1050" dirty="0"/>
          </a:p>
          <a:p>
            <a:pPr marL="342900" indent="-342900">
              <a:lnSpc>
                <a:spcPct val="14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不翻译：直传 = 请求体逐字节保真，thinking 块与 signature、reasoning item 都不会被往返翻译掉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以省量为主线，其余三项都是为它服务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67048" y="1719072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6162C"/>
          </a:solidFill>
          <a:ln w="19050">
            <a:solidFill>
              <a:srgbClr val="7C8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7048" y="1865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省量（主线）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67048" y="23408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剥离推理链、历史裁剪、响应缓存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6704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且不破坏上游 KV 缓存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3547872"/>
            <a:ext cx="3472586" cy="1874520"/>
          </a:xfrm>
          <a:prstGeom prst="roundRect">
            <a:avLst>
              <a:gd name="adj" fmla="val 2927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49040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协议自动匹配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296052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客户端入口即意图；命中直传，字段不被往返翻译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9554" y="3547872"/>
            <a:ext cx="3472586" cy="1874520"/>
          </a:xfrm>
          <a:prstGeom prst="roundRect">
            <a:avLst>
              <a:gd name="adj" fmla="val 2927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5586" y="3749040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模型别名与共存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5586" y="4206240"/>
            <a:ext cx="296052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中转 ID 与上游真名解耦；同名模型跨供应商各自成路由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0741" y="3547872"/>
            <a:ext cx="3472586" cy="1874520"/>
          </a:xfrm>
          <a:prstGeom prst="roundRect">
            <a:avLst>
              <a:gd name="adj" fmla="val 2927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6773" y="3749040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B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可观测与韧性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16773" y="4206240"/>
            <a:ext cx="296052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省量逐项可见；熔断、退避重试、超时与体积上限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推理链是「过程」，不是「结果」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客户端的做法是「把上一轮的全部回传」—— 但模型需要的从来是结果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36312" cy="2743200"/>
          </a:xfrm>
          <a:prstGeom prst="roundRect">
            <a:avLst>
              <a:gd name="adj" fmla="val 200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必须回传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用户的提问</a:t>
            </a:r>
            <a:endParaRPr lang="en-US" sz="1250" dirty="0"/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助手的最终回答</a:t>
            </a:r>
            <a:endParaRPr lang="en-US" sz="1250" dirty="0"/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工具调用的入参与返回</a:t>
            </a:r>
            <a:endParaRPr lang="en-US" sz="1250" dirty="0"/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提示词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97016" y="1572768"/>
            <a:ext cx="5236312" cy="2743200"/>
          </a:xfrm>
          <a:prstGeom prst="roundRect">
            <a:avLst>
              <a:gd name="adj" fmla="val 2000"/>
            </a:avLst>
          </a:prstGeom>
          <a:solidFill>
            <a:srgbClr val="0D0D15"/>
          </a:solidFill>
          <a:ln w="9525">
            <a:solidFill>
              <a:srgbClr val="3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 可以剥掉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53048" y="2286000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的 reasoning_content / reasoning</a:t>
            </a:r>
            <a:endParaRPr lang="en-US" sz="1250" dirty="0"/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协议里独立的 reasoning item</a:t>
            </a:r>
            <a:endParaRPr lang="en-US" sz="1250" dirty="0"/>
          </a:p>
          <a:p>
            <a:pPr marL="342900" indent="-342900">
              <a:lnSpc>
                <a:spcPct val="2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reasoning_details（结构化思考）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4553712"/>
            <a:ext cx="1087495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推理链只在生成本轮回答的那一刻有用；回答已经产出，它的使命就结束了。把它回传给下一轮，既不改善回答质量，又让请求体随轮次线性增长 —— 这就是「重复搬运」的主体。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推理链越滚越大，而每轮都要重发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10 轮会话：客户端发出的上下文一路增长，网关剥掉历史推理链后把它压平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末轮请求体体积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不剥离（上游实收）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35808" y="2075688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16161F"/>
          </a:solidFill>
          <a:ln w="6350">
            <a:solidFill>
              <a:srgbClr val="2424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2075688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FF7A85"/>
          </a:solidFill>
          <a:ln w="12700">
            <a:solidFill>
              <a:srgbClr val="FF7A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34272" y="199339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11,510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10896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剥离后（上游实收）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3191256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16161F"/>
          </a:solidFill>
          <a:ln w="6350">
            <a:solidFill>
              <a:srgbClr val="2424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3191256"/>
            <a:ext cx="1632753" cy="384048"/>
          </a:xfrm>
          <a:prstGeom prst="roundRect">
            <a:avLst>
              <a:gd name="adj" fmla="val 14286"/>
            </a:avLst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34272" y="310896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3,210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4242816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0D0D15"/>
          </a:solidFill>
          <a:ln w="9525">
            <a:solidFill>
              <a:srgbClr val="2A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439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省 8,300 B（72%）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4443984"/>
            <a:ext cx="71624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客户端发出 11,513 B → 不剥离时上游收 11,510 B，剥离后只收 3,210 B。差值逐轮扩大：第 1 轮 −830 B → 第 10 轮 −8,300 B —— 历史越长，重复搬运越多。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省掉的量级有多大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真实请求日志的省量分布 —— 单请求量级、占输入比重、以及汇聚到哪一层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24809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120,505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24809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单请求省量中位数 tokens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77108" y="1572768"/>
            <a:ext cx="24809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77108" y="2084832"/>
            <a:ext cx="24809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剥离占该请求输入（中位数）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95848" y="1572768"/>
            <a:ext cx="24809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66.3%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5848" y="2084832"/>
            <a:ext cx="24809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有省量的请求占比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14587" y="1572768"/>
            <a:ext cx="24809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314,835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14587" y="2084832"/>
            <a:ext cx="24809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单请求输入中位数 tokens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743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剥离集中在哪一层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12724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16161F"/>
          </a:solidFill>
          <a:ln w="6350">
            <a:solidFill>
              <a:srgbClr val="242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127248"/>
            <a:ext cx="5538887" cy="365760"/>
          </a:xfrm>
          <a:prstGeom prst="roundRect">
            <a:avLst>
              <a:gd name="adj" fmla="val 15000"/>
            </a:avLst>
          </a:prstGeom>
          <a:solidFill>
            <a:srgbClr val="7C86FF"/>
          </a:solidFill>
          <a:ln w="12700">
            <a:solidFill>
              <a:srgbClr val="7C86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27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97.7%  带 tool_calls 的轮次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358444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2.3%  普通 assistant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84848" y="2743200"/>
            <a:ext cx="4748479" cy="2286000"/>
          </a:xfrm>
          <a:prstGeom prst="roundRect">
            <a:avLst>
              <a:gd name="adj" fmla="val 240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944368"/>
            <a:ext cx="42364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省量前几名模型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364992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deepseek-v4.1-flash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05695" y="33649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3.50 亿 · 3,143 次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0" y="3767328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mimo-v2.6-flash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05695" y="3767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0.43 亿 · 1,342 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4169664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deepseek-v4-flash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05695" y="4169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亿 · 274 次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0" y="457200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gpt-5.6-sol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05695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 亿 · 92 次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4164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大头在多工具调用的轮次 —— 而这一层默认仅在 chat 协议开启。省量最大的 20% 请求贡献了 51% 的省量。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剥离前后：结构不变，推理链消失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同一个多轮会话，网关转发前后的真实对照（隔离实例 + mock 上游抓取，非示意）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36312" cy="1773936"/>
          </a:xfrm>
          <a:prstGeom prst="roundRect">
            <a:avLst>
              <a:gd name="adj" fmla="val 3093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289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剥离前（客户端发来的）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09848" y="1773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5,932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消息条数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75608" y="2249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含推理链的消息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75608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871216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推理链体积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75608" y="2871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1,776 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7016" y="1572768"/>
            <a:ext cx="5236312" cy="1773936"/>
          </a:xfrm>
          <a:prstGeom prst="roundRect">
            <a:avLst>
              <a:gd name="adj" fmla="val 3093"/>
            </a:avLst>
          </a:prstGeom>
          <a:solidFill>
            <a:srgbClr val="0D0D15"/>
          </a:solidFill>
          <a:ln w="9525">
            <a:solidFill>
              <a:srgbClr val="2A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1773936"/>
            <a:ext cx="289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剥离后（上游实收的）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48495" y="1773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1,142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3048" y="2249424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消息条数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14255" y="2249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53048" y="2560320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含推理链的消息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14255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3048" y="2871216"/>
            <a:ext cx="3261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推理链体积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14255" y="2871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B −81% 请求体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602736"/>
          <a:ext cx="10874959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840480"/>
                <a:gridCol w="2194560"/>
                <a:gridCol w="173736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剥离前推理链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剥离后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assistant · 普通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571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已剥离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assistant · 带 tool_calls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634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已剥离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assistant · 普通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1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571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DDC9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已剥离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58368" y="5138928"/>
            <a:ext cx="10874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消息条数与顺序完全不变，只有推理链字段被移除；省下 4,790 字节（≈ 1,197 tokens）。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剥不剥，先看协议，再看层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判据是上游协议而非供应商 —— 供应商只是换 endpoint，协议才决定剥离是否安全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7495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68580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 / 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38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 协议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7A8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绝不剥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2B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thinking 块必须连签名回传，剥了上游必回 400。这条优先于模型级开关 —— 宁可少省，也不造出必然失败的请求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 · 普通 assistant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DC9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2B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默认开启。这是省量的基本盘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 · 带 tool_calls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DC9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2B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默认开启（实测安全）—— 这也是省量的大头（97.7%）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0F1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Responses · reasoning item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B9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2B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与相邻 function_call 的配对关系未经实测，剥掉可能因序列不合法而 400 —— 交用户在真实上游试开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4828032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三种协议、两层结构、一个总闸 —— 判定顺序不可颠倒：协议安全的红线优先于一切省量。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三种手段，各管一段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剥离是主力，另两项按需开启 —— 这里只说各自省的是哪一块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472586" cy="3017520"/>
          </a:xfrm>
          <a:prstGeom prst="roundRect">
            <a:avLst>
              <a:gd name="adj" fmla="val 1818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739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73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剥离推理链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29605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省的是「过程」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96052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7C86FF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9554" y="1572768"/>
            <a:ext cx="3472586" cy="3017520"/>
          </a:xfrm>
          <a:prstGeom prst="roundRect">
            <a:avLst>
              <a:gd name="adj" fmla="val 1818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5586" y="17739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5586" y="1773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5586" y="2157984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历史裁剪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5586" y="2542032"/>
            <a:ext cx="29605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省的是「过早的轮次」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5586" y="2926080"/>
            <a:ext cx="296052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B06BFF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0741" y="1572768"/>
            <a:ext cx="3472586" cy="3017520"/>
          </a:xfrm>
          <a:prstGeom prst="roundRect">
            <a:avLst>
              <a:gd name="adj" fmla="val 1818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6773" y="177393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6773" y="1773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16773" y="2157984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响应缓存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16773" y="2542032"/>
            <a:ext cx="29605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省的是「完全一样的请求」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16773" y="2926080"/>
            <a:ext cx="296052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38D9D9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809744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三项不叠加成「省得更多」就完事 —— 每一项都有明确的代价：剥离丢思考过程、裁剪丢历史、缓存只对非流式生效。所以默认只开代价最可控的那一项。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剥离到什么程度，才不至于帮倒忙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剥离是有损且不可逆的 —— 所以边界要靠判据划，不能一刀切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472586" cy="2377440"/>
          </a:xfrm>
          <a:prstGeom prst="roundRect">
            <a:avLst>
              <a:gd name="adj" fmla="val 2308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粗暴做法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29605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把所有历史里的推理链都剥掉，省得最多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980944"/>
            <a:ext cx="2960522" cy="10973"/>
          </a:xfrm>
          <a:prstGeom prst="rect">
            <a:avLst/>
          </a:prstGeom>
          <a:solidFill>
            <a:srgbClr val="24243A"/>
          </a:solidFill>
          <a:ln w="12700">
            <a:solidFill>
              <a:srgbClr val="24243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29605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推理链与 tool_calls 常常是配对关系：客户端（或上游）要求二者并存时，剥了就得到 400 —— 省下的 token 还不够赔一次失败重试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9554" y="1572768"/>
            <a:ext cx="3472586" cy="2377440"/>
          </a:xfrm>
          <a:prstGeom prst="roundRect">
            <a:avLst>
              <a:gd name="adj" fmla="val 2308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5586" y="1773936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干脆不剥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5586" y="2212848"/>
            <a:ext cx="29605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保持请求体完全不变，最稳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5586" y="2980944"/>
            <a:ext cx="2960522" cy="10973"/>
          </a:xfrm>
          <a:prstGeom prst="rect">
            <a:avLst/>
          </a:prstGeom>
          <a:solidFill>
            <a:srgbClr val="24243A"/>
          </a:solidFill>
          <a:ln w="12700">
            <a:solidFill>
              <a:srgbClr val="2424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5586" y="3108960"/>
            <a:ext cx="29605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但白白多付那部分推理链的传输费。实测这类内容在多轮会话里占比很高，且每轮都会重发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0741" y="1572768"/>
            <a:ext cx="3472586" cy="2377440"/>
          </a:xfrm>
          <a:prstGeom prst="roundRect">
            <a:avLst>
              <a:gd name="adj" fmla="val 2308"/>
            </a:avLst>
          </a:prstGeom>
          <a:solidFill>
            <a:srgbClr val="0D0D15"/>
          </a:solidFill>
          <a:ln w="9525">
            <a:solidFill>
              <a:srgbClr val="2A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6773" y="1773936"/>
            <a:ext cx="29605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我们的做法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16773" y="2212848"/>
            <a:ext cx="296052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分两层，且按上游协议判定（不是按供应商 —— 同一家常同时提供三种协议）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16773" y="2980944"/>
            <a:ext cx="2960522" cy="10973"/>
          </a:xfrm>
          <a:prstGeom prst="rect">
            <a:avLst/>
          </a:prstGeom>
          <a:solidFill>
            <a:srgbClr val="24243A"/>
          </a:solidFill>
          <a:ln w="12700">
            <a:solidFill>
              <a:srgbClr val="2424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6773" y="3108960"/>
            <a:ext cx="296052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assistant 推理链默认剥；带 tool_calls 的走协议开关；Anthropic 恒不剥。既拿到省量，又不制造必然失败的请求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224528"/>
            <a:ext cx="10874959" cy="822960"/>
          </a:xfrm>
          <a:prstGeom prst="roundRect">
            <a:avLst>
              <a:gd name="adj" fmla="val 6667"/>
            </a:avLst>
          </a:prstGeom>
          <a:solidFill>
            <a:srgbClr val="0D0D15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256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为什么按协议而非供应商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31920" y="4425696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供应商只是换 endpoint，协议才决定剥离是否安全。实测反例：claude-opus-4-8 在官方走 anthropic、在转售商走 openai —— 按供应商开关必然误判。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界面：暗色与亮色，同一套设计语言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首帧即正确，不会先闪一下暗色；主题在顶栏随时切换</a:t>
            </a:r>
            <a:endParaRPr lang="en-US" sz="1300" dirty="0"/>
          </a:p>
        </p:txBody>
      </p:sp>
      <p:pic>
        <p:nvPicPr>
          <p:cNvPr id="4" name="Image 0" descr="D:\Office software\Development Project\AIGate\.openbitfun\tmp\video\panel\live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858000" cy="3857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90688" y="1572768"/>
            <a:ext cx="3742639" cy="3857625"/>
          </a:xfrm>
          <a:prstGeom prst="roundRect">
            <a:avLst>
              <a:gd name="adj" fmla="val 1466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773936"/>
            <a:ext cx="3230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token，两套取值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231136"/>
            <a:ext cx="3230575" cy="3126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机制只切 &lt;html&gt; 上一个类名，视觉全部由 token 层响应，组件不分主题写两套样式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首帧类名由内联脚本按偏好先写好，早于渲染 —— 所以不会先闪暗色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概览页：省量、关键指标与趋势同屏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亮色下容器不再画描边，改由填充差分层（苹果分组背景的做法）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省了多少，逐项可见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三类省量分别记账，与命中率、上下文规模同屏对照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36312" cy="3657600"/>
          </a:xfrm>
          <a:prstGeom prst="roundRect">
            <a:avLst>
              <a:gd name="adj" fmla="val 1500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请求记录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472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/ 延迟 / token / 缓存命中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47242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每条请求的状态码、延迟与首 token 延迟同屏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completion 的 token 拆分直接列在行内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缓存命中率按单条请求算（命中 / 输入），与聚合口径一致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错误原文可展开、可复制，长错误不撑破表格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7016" y="1572768"/>
            <a:ext cx="5236312" cy="3657600"/>
          </a:xfrm>
          <a:prstGeom prst="roundRect">
            <a:avLst>
              <a:gd name="adj" fmla="val 1500"/>
            </a:avLst>
          </a:prstGeom>
          <a:solidFill>
            <a:srgbClr val="0D0D15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3048" y="2139696"/>
            <a:ext cx="472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趋势、分布、模型与供应商排名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3048" y="2523744"/>
            <a:ext cx="47242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趋势按模型分层，主序列满强度、其余递减描边不透明度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调用分布环形图 + 排名条，模型与供应商各自成榜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省量审计面板：三类省量的构成比例条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时间范围与粒度自动推导（≤1 天→小时，≤31 天→天，更长→月）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供应商与模型，一处管住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卡片与表格双视图；拉取模型时自动探测上游支持的协议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36312" cy="3108960"/>
          </a:xfrm>
          <a:prstGeom prst="roundRect">
            <a:avLst>
              <a:gd name="adj" fmla="val 1765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供应商列表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472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状态、密钥、协议一览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23744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每个供应商独立 API Key，可视化编辑，不落明文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健康状态与熔断状态直接显示在卡片上，可手动重置熔断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余额查询与今日费用按供应商归集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协议支持集合由探测得出，不必手工勾选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7016" y="1572768"/>
            <a:ext cx="5236312" cy="3108960"/>
          </a:xfrm>
          <a:prstGeom prst="roundRect">
            <a:avLst>
              <a:gd name="adj" fmla="val 1765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773936"/>
            <a:ext cx="4724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模型明细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3048" y="2139696"/>
            <a:ext cx="472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别名、思考强度、协议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3048" y="2523744"/>
            <a:ext cx="47242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中转 ID 与上游真名解耦，同一模型可跨供应商各自成路由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逐模型的 reasoning_effort 注入，不覆盖客户端已有值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协议按「模型级 → 供应商级 → 模型名推断」三层回落解析</a:t>
            </a:r>
            <a:endParaRPr lang="en-US" sz="1150" dirty="0"/>
          </a:p>
          <a:p>
            <a:pPr marL="342900" indent="-342900">
              <a:lnSpc>
                <a:spcPct val="15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拉取模型时自动探测，把"支持什么协议"变成事实而非配置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4919472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652 个模型的真实配置规模下，手工维护协议列不可行 —— 所以把判断交给探测与三层回落。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一个二进制，扔到机器上就能跑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为了部署简单，刻意把技术面做窄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41428"/>
          </a:solidFill>
          <a:ln w="15875">
            <a:solidFill>
              <a:srgbClr val="7C8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922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1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AIGate.exe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· axum · 单进程异步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15568" y="2779776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C1C34"/>
          </a:solidFill>
          <a:ln w="9525">
            <a:solidFill>
              <a:srgbClr val="343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7977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后台服务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5568" y="338328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C1C34"/>
          </a:solidFill>
          <a:ln w="9525">
            <a:solidFill>
              <a:srgbClr val="343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38328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管理面板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5568" y="3986784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C1C34"/>
          </a:solidFill>
          <a:ln w="9525">
            <a:solidFill>
              <a:srgbClr val="343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98678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路由与计量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31596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前端（HTML / CSS / JS）在编译期拼进可执行文件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1572768"/>
            <a:ext cx="5388559" cy="3200400"/>
          </a:xfrm>
          <a:prstGeom prst="roundRect">
            <a:avLst>
              <a:gd name="adj" fmla="val 1714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73936"/>
            <a:ext cx="48764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为什么这样设计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249424"/>
            <a:ext cx="487649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Node，也不需要静态文件目录 —— 拷贝一个文件就能跑</a:t>
            </a:r>
            <a:endParaRPr lang="en-US" sz="1200" dirty="0"/>
          </a:p>
          <a:p>
            <a:pPr marL="342900" indent="-342900">
              <a:lnSpc>
                <a:spcPct val="16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providers.json 描述供应商与模型；密钥走环境变量或面板管理，不落明文</a:t>
            </a:r>
            <a:endParaRPr lang="en-US" sz="1200" dirty="0"/>
          </a:p>
          <a:p>
            <a:pPr marL="342900" indent="-342900">
              <a:lnSpc>
                <a:spcPct val="16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改端口或数据目录即可跑出互不干扰的多个实例</a:t>
            </a:r>
            <a:endParaRPr lang="en-US" sz="1200" dirty="0"/>
          </a:p>
          <a:p>
            <a:pPr marL="342900" indent="-342900">
              <a:lnSpc>
                <a:spcPct val="16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上游调用是异步非阻塞的：单个慢上游不会拖住其他供应商的请求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三步开始使用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从下载到跑通一个请求，只有三步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755648"/>
            <a:ext cx="3411626" cy="2103120"/>
          </a:xfrm>
          <a:prstGeom prst="roundRect">
            <a:avLst>
              <a:gd name="adj" fmla="val 2609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56816"/>
            <a:ext cx="475488" cy="475488"/>
          </a:xfrm>
          <a:prstGeom prst="ellipse">
            <a:avLst/>
          </a:prstGeom>
          <a:solidFill>
            <a:srgbClr val="7C86FF"/>
          </a:solidFill>
          <a:ln w="12700">
            <a:solidFill>
              <a:srgbClr val="0D0D1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6192" y="1956816"/>
            <a:ext cx="22777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 exe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8995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从发行版下载，或自行 cargo build --release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0034" y="1755648"/>
            <a:ext cx="3411626" cy="2103120"/>
          </a:xfrm>
          <a:prstGeom prst="roundRect">
            <a:avLst>
              <a:gd name="adj" fmla="val 2609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6066" y="1956816"/>
            <a:ext cx="475488" cy="475488"/>
          </a:xfrm>
          <a:prstGeom prst="ellipse">
            <a:avLst/>
          </a:prstGeom>
          <a:solidFill>
            <a:srgbClr val="B06BFF"/>
          </a:solidFill>
          <a:ln w="12700">
            <a:solidFill>
              <a:srgbClr val="0D0D1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6066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67858" y="1956816"/>
            <a:ext cx="22777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6066" y="2651760"/>
            <a:ext cx="28995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直接运行 AIGate.exe，浏览器打开面板完成初始化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1701" y="1755648"/>
            <a:ext cx="3411626" cy="2103120"/>
          </a:xfrm>
          <a:prstGeom prst="roundRect">
            <a:avLst>
              <a:gd name="adj" fmla="val 2609"/>
            </a:avLst>
          </a:prstGeom>
          <a:solidFill>
            <a:srgbClr val="0D0D15"/>
          </a:solidFill>
          <a:ln w="9525">
            <a:solidFill>
              <a:srgbClr val="2424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7733" y="1956816"/>
            <a:ext cx="475488" cy="475488"/>
          </a:xfrm>
          <a:prstGeom prst="ellipse">
            <a:avLst/>
          </a:prstGeom>
          <a:solidFill>
            <a:srgbClr val="38D9D9"/>
          </a:solidFill>
          <a:ln w="12700">
            <a:solidFill>
              <a:srgbClr val="0D0D1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7733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99525" y="1956816"/>
            <a:ext cx="22777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1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改客户端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7733" y="2651760"/>
            <a:ext cx="28995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9AA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把编程工具的 API Base 指向 http://127.0.0.1:8787/v1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187952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0D0D15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891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828800" y="4389120"/>
            <a:ext cx="9448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github.com/wonderfulaichen/AIGate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6437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AIGate · 本地 LLM 网关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AIGate — 本地 LLM 网关</dc:title>
  <dc:subject>PptxGenJS Presentation</dc:subject>
  <dc:creator>AIGate</dc:creator>
  <cp:lastModifiedBy>AIGate</cp:lastModifiedBy>
  <cp:revision>1</cp:revision>
  <dcterms:created xsi:type="dcterms:W3CDTF">2026-09-29T00:57:24Z</dcterms:created>
  <dcterms:modified xsi:type="dcterms:W3CDTF">2026-09-29T00:57:24Z</dcterms:modified>
</cp:coreProperties>
</file>